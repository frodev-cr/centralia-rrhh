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A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2011680"/>
            <a:ext cx="5486400" cy="54864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3474720"/>
            <a:ext cx="4114800" cy="4114800"/>
          </a:xfrm>
          <a:prstGeom prst="ellipse">
            <a:avLst/>
          </a:prstGeom>
          <a:solidFill>
            <a:srgbClr val="00A896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258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02C39A"/>
                </a:solidFill>
              </a:rPr>
              <a:t>CENTRALIA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Centralia Personas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658368" y="29718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</a:rPr>
              <a:t>Recursos Humanos y Nómina, sobre los datos que ya captura Marcaje.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58368" y="5806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B9C4"/>
                </a:solidFill>
              </a:rPr>
              <a:t>Propuesta de nuevo producto</a:t>
            </a:r>
            <a:pPr indent="0" marL="0">
              <a:buNone/>
            </a:pPr>
            <a:r>
              <a:rPr lang="en-US" sz="1300" dirty="0">
                <a:solidFill>
                  <a:srgbClr val="9FB9C4"/>
                </a:solidFill>
              </a:rPr>
              <a:t>   ·   Costa Rica   ·   Junio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</a:rPr>
              <a:t>DÓNDE ESTÁ CENTRALIA HOY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Tres productos que ya cubren la operación de la PyME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4747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6E6"/>
            </a:solidFill>
            <a:prstDash val="solid"/>
          </a:ln>
          <a:effectLst>
            <a:outerShdw sx="100000" sy="100000" kx="0" ky="0" algn="bl" rotWithShape="0" blurRad="101600" dist="38100" dir="8100000">
              <a:srgbClr val="0E2A3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920240"/>
            <a:ext cx="3474720" cy="1097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402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2A3B"/>
                </a:solidFill>
              </a:rPr>
              <a:t>WhatsApp IA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</a:rPr>
              <a:t>EL CLIENTE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320040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323F"/>
                </a:solidFill>
              </a:rPr>
              <a:t>Atención y ventas en el canal donde está el cliente.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25112" y="1920240"/>
            <a:ext cx="34747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6E6"/>
            </a:solidFill>
            <a:prstDash val="solid"/>
          </a:ln>
          <a:effectLst>
            <a:outerShdw sx="100000" sy="100000" kx="0" ky="0" algn="bl" rotWithShape="0" blurRad="101600" dist="38100" dir="8100000">
              <a:srgbClr val="0E2A3B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25112" y="1920240"/>
            <a:ext cx="3474720" cy="1097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4599432" y="22402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2A3B"/>
                </a:solidFill>
              </a:rPr>
              <a:t>Marcaje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99432" y="27432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</a:rPr>
              <a:t>EL PERSONAL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99432" y="320040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323F"/>
                </a:solidFill>
              </a:rPr>
              <a:t>Control de asistencia: horas, faltas y tardías reales.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101584" y="1920240"/>
            <a:ext cx="34747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6E6"/>
            </a:solidFill>
            <a:prstDash val="solid"/>
          </a:ln>
          <a:effectLst>
            <a:outerShdw sx="100000" sy="100000" kx="0" ky="0" algn="bl" rotWithShape="0" blurRad="101600" dist="38100" dir="8100000">
              <a:srgbClr val="0E2A3B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01584" y="1920240"/>
            <a:ext cx="3474720" cy="1097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8375904" y="224028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2A3B"/>
                </a:solidFill>
              </a:rPr>
              <a:t>POS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375904" y="27432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8090"/>
                </a:solidFill>
              </a:rPr>
              <a:t>LAS VENTAS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375904" y="3200400"/>
            <a:ext cx="2971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323F"/>
                </a:solidFill>
              </a:rPr>
              <a:t>Registro y cobro en el punto de venta.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534924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</a:rPr>
              <a:t>La clave: </a:t>
            </a:r>
            <a:pPr indent="0" marL="0">
              <a:buNone/>
            </a:pPr>
            <a:r>
              <a:rPr lang="en-US" sz="1500" dirty="0">
                <a:solidFill>
                  <a:srgbClr val="14323F"/>
                </a:solidFill>
              </a:rPr>
              <a:t>Marcaje ya captura el insumo más caro de RRHH —las horas reales— pero ese dato hoy muere en un reporte.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</a:rPr>
              <a:t>Centralia Personas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</a:rPr>
              <a:t>LA OPORTUNIDAD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RRHH y planilla siguen en Excel — y eso cuesta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0116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63040" y="19659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A3B"/>
                </a:solidFill>
              </a:rPr>
              <a:t>Dolor recurrente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2423160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323F"/>
                </a:solidFill>
              </a:rPr>
              <a:t>Vacaciones, aguinaldo y CCSS a mano: lento, propenso a multas, cada quincena y cada diciembre.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33756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3375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463040" y="3291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A3B"/>
                </a:solidFill>
              </a:rPr>
              <a:t>Empuje regulatorio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3749040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323F"/>
                </a:solidFill>
              </a:rPr>
              <a:t>La facturación electrónica 4.4 y Hacienda Digital ya obligan a la PyME a digitalizarse.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663440"/>
            <a:ext cx="594360" cy="59436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6634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63040" y="46177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A3B"/>
                </a:solidFill>
              </a:rPr>
              <a:t>Ventaja de datos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5074920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323F"/>
                </a:solidFill>
              </a:rPr>
              <a:t>Centralia ya tiene la asistencia. Ningún software genérico parte con ese dato en casa.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5989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3"/>
                </a:solidFill>
              </a:rPr>
              <a:t>Resultado: un producto que el cliente de Marcaje activa casi sin fricción, con bajo costo de adquisición y alta disposición a pagar.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</a:rPr>
              <a:t>Centralia Personas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2A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028090">
              <a:alpha val="2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</a:rPr>
              <a:t>LA PROPUESTA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Centralia Personas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58368" y="283464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</a:rPr>
              <a:t>Una plataforma de RRHH y Nómina para Costa Rica, construida sobre los datos de Marcaje. El cliente empieza simple (gestión de personal) y crece hacia la planilla completa, sin cambiar de herramienta.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658368" y="45720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Retención + ticket.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La nómina es pegajosa y de alto valor recurrente; integrada a Marcaje, crea una barrera de salida.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</a:rPr>
              <a:t>EL PRODUCTO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Tres módulos que se activan por etapas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34747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6E6"/>
            </a:solidFill>
            <a:prstDash val="solid"/>
          </a:ln>
          <a:effectLst>
            <a:outerShdw sx="100000" sy="100000" kx="0" ky="0" algn="bl" rotWithShape="0" blurRad="101600" dist="38100" dir="8100000">
              <a:srgbClr val="0E2A3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4884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3B"/>
                </a:solidFill>
              </a:rPr>
              <a:t>Gestión de personal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41248" y="361188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4323F"/>
                </a:solidFill>
              </a:rPr>
              <a:t>Expediente digital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4323F"/>
                </a:solidFill>
              </a:rPr>
              <a:t>Vacaciones automáticas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4323F"/>
                </a:solidFill>
              </a:rPr>
              <a:t>Solicitudes y aprobaciones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4323F"/>
                </a:solidFill>
              </a:rPr>
              <a:t>Ausencias e incapacidades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4323F"/>
                </a:solidFill>
              </a:rPr>
              <a:t>Alertas y vencimientos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25112" y="1874520"/>
            <a:ext cx="34747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6E6"/>
            </a:solidFill>
            <a:prstDash val="solid"/>
          </a:ln>
          <a:effectLst>
            <a:outerShdw sx="100000" sy="100000" kx="0" ky="0" algn="bl" rotWithShape="0" blurRad="101600" dist="38100" dir="8100000">
              <a:srgbClr val="0E2A3B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99432" y="214884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4599432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99432" y="292608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3B"/>
                </a:solidFill>
              </a:rPr>
              <a:t>Nómina Costa Rica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17720" y="361188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4323F"/>
                </a:solidFill>
              </a:rPr>
              <a:t>Planilla con horas reales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4323F"/>
                </a:solidFill>
              </a:rPr>
              <a:t>Cargas sociales CCSS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4323F"/>
                </a:solidFill>
              </a:rPr>
              <a:t>Aguinaldo y horas extra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4323F"/>
                </a:solidFill>
              </a:rPr>
              <a:t>Colillas + archivo SICERE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4323F"/>
                </a:solidFill>
              </a:rPr>
              <a:t>Liquidaciones y cesantía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101584" y="1874520"/>
            <a:ext cx="34747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6E6"/>
            </a:solidFill>
            <a:prstDash val="solid"/>
          </a:ln>
          <a:effectLst>
            <a:outerShdw sx="100000" sy="100000" kx="0" ky="0" algn="bl" rotWithShape="0" blurRad="101600" dist="38100" dir="8100000">
              <a:srgbClr val="0E2A3B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375904" y="214884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8375904" y="21488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375904" y="292608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3B"/>
                </a:solidFill>
              </a:rPr>
              <a:t>Autoservicio WhatsApp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94192" y="3611880"/>
            <a:ext cx="30175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4323F"/>
                </a:solidFill>
              </a:rPr>
              <a:t>Saldo y solicitud de vacaciones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4323F"/>
                </a:solidFill>
              </a:rPr>
              <a:t>Colilla por WhatsApp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4323F"/>
                </a:solidFill>
              </a:rPr>
              <a:t>Justificar ausencias por chat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4323F"/>
                </a:solidFill>
              </a:rPr>
              <a:t>Sin app nueva</a:t>
            </a:r>
            <a:endParaRPr lang="en-US" sz="1250" dirty="0"/>
          </a:p>
          <a:p>
            <a:pPr marL="152400" indent="-1524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4323F"/>
                </a:solidFill>
              </a:rPr>
              <a:t>Reutiliza el chatbot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</a:rPr>
              <a:t>Centralia Personas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</a:rPr>
              <a:t>EL DIFERENCIADOR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integración con Marcaje cambia el juego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6424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4114800"/>
                <a:gridCol w="411480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Etapa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Software genérico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A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Centralia Personas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E2A3B"/>
                          </a:solidFill>
                        </a:rPr>
                        <a:t>Captura de asistencia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B73"/>
                          </a:solidFill>
                        </a:rPr>
                        <a:t>Importación manual / doble digitación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323F"/>
                          </a:solidFill>
                        </a:rPr>
                        <a:t>Automática desde Marcaje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5F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E2A3B"/>
                          </a:solidFill>
                        </a:rPr>
                        <a:t>Cálculo de vacaciones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B73"/>
                          </a:solidFill>
                        </a:rPr>
                        <a:t>Manual, propenso a error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323F"/>
                          </a:solidFill>
                        </a:rPr>
                        <a:t>Proporcional y en tiempo real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5F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E2A3B"/>
                          </a:solidFill>
                        </a:rPr>
                        <a:t>Horas extra en planilla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B73"/>
                          </a:solidFill>
                        </a:rPr>
                        <a:t>Se digitan aparte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323F"/>
                          </a:solidFill>
                        </a:rPr>
                        <a:t>Vienen del marcaje real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5F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E2A3B"/>
                          </a:solidFill>
                        </a:rPr>
                        <a:t>Implementación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B73"/>
                          </a:solidFill>
                        </a:rPr>
                        <a:t>Proyecto nuevo, semanas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323F"/>
                          </a:solidFill>
                        </a:rPr>
                        <a:t>Activación sobre cliente actual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5F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E2A3B"/>
                          </a:solidFill>
                        </a:rPr>
                        <a:t>Costo de cambiarse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B6B73"/>
                          </a:solidFill>
                        </a:rPr>
                        <a:t>Bajo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4323F"/>
                          </a:solidFill>
                        </a:rPr>
                        <a:t>Alto — todo el flujo vive junto</a:t>
                      </a:r>
                      <a:endParaRPr lang="en-US" sz="1250" dirty="0"/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F5F0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8064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3"/>
                </a:solidFill>
              </a:rPr>
              <a:t>Una barrera de salida: con asistencia, vacaciones y planilla en el mismo flujo, migrar de proveedor obliga a reconstruir todo el proceso.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</a:rPr>
              <a:t>Centralia Personas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</a:rPr>
              <a:t>MARCO REGULATORIO · COSTA RICA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el producto debe cumplir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4747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6E6"/>
            </a:solidFill>
            <a:prstDash val="solid"/>
          </a:ln>
          <a:effectLst>
            <a:outerShdw sx="100000" sy="100000" kx="0" ky="0" algn="bl" rotWithShape="0" blurRad="101600" dist="38100" dir="8100000">
              <a:srgbClr val="0E2A3B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04672" y="212140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</a:rPr>
              <a:t>Vacaciones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04672" y="26060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323F"/>
                </a:solidFill>
              </a:rPr>
              <a:t>2 semanas (14 días) tras 50 semanas; acumulación proporcional.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25112" y="1920240"/>
            <a:ext cx="34747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6E6"/>
            </a:solidFill>
            <a:prstDash val="solid"/>
          </a:ln>
          <a:effectLst>
            <a:outerShdw sx="100000" sy="100000" kx="0" ky="0" algn="bl" rotWithShape="0" blurRad="101600" dist="38100" dir="8100000">
              <a:srgbClr val="0E2A3B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81144" y="212140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</a:rPr>
              <a:t>Aguinaldo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81144" y="26060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323F"/>
                </a:solidFill>
              </a:rPr>
              <a:t>Promedio de salarios dic–nov; pago antes del 20 de diciembre.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01584" y="1920240"/>
            <a:ext cx="347472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6E6"/>
            </a:solidFill>
            <a:prstDash val="solid"/>
          </a:ln>
          <a:effectLst>
            <a:outerShdw sx="100000" sy="100000" kx="0" ky="0" algn="bl" rotWithShape="0" blurRad="101600" dist="38100" dir="8100000">
              <a:srgbClr val="0E2A3B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57616" y="212140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</a:rPr>
              <a:t>Facturación 4.4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357616" y="260604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323F"/>
                </a:solidFill>
              </a:rPr>
              <a:t>Obligatoria desde sep-2025; alimenta Hacienda Digital en 2026.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886200"/>
            <a:ext cx="11064240" cy="1828800"/>
          </a:xfrm>
          <a:prstGeom prst="rect">
            <a:avLst/>
          </a:prstGeom>
          <a:solidFill>
            <a:srgbClr val="0E2A3B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114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Cargas sociales CCSS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68680" y="4617720"/>
            <a:ext cx="5669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Obligatorias desde el primer día. Deben ir parametrizadas para actualizarse sin reprogramar.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949440" y="40690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2025      →      2026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66560" y="45262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Patrono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0" y="45262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FB9C4"/>
                </a:solidFill>
              </a:rPr>
              <a:t>26,67%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58400" y="45262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</a:rPr>
              <a:t>26,83%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766560" y="5074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Trabajador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86800" y="50749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FB9C4"/>
                </a:solidFill>
              </a:rPr>
              <a:t>10,67%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058400" y="50749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C39A"/>
                </a:solidFill>
              </a:rPr>
              <a:t>10,83%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3"/>
                </a:solidFill>
              </a:rPr>
              <a:t>Cifras de referencia a junio 2026 — confirmar con asesor laboral antes del lanzamiento.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</a:rPr>
              <a:t>Centralia Personas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</a:rPr>
              <a:t>MERCADO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Cuatro segmentos, cuatro ganchos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5349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6E6"/>
            </a:solidFill>
            <a:prstDash val="solid"/>
          </a:ln>
          <a:effectLst>
            <a:outerShdw sx="100000" sy="100000" kx="0" ky="0" algn="bl" rotWithShape="0" blurRad="101600" dist="38100" dir="8100000">
              <a:srgbClr val="0E2A3B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011680"/>
            <a:ext cx="109728" cy="1600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1284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3B"/>
                </a:solidFill>
              </a:rPr>
              <a:t>Retail / comercio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724912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323F"/>
                </a:solidFill>
              </a:rPr>
              <a:t>Planilla por sucursal con horas reales y control de ausentismo.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72200" y="2011680"/>
            <a:ext cx="5349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6E6"/>
            </a:solidFill>
            <a:prstDash val="solid"/>
          </a:ln>
          <a:effectLst>
            <a:outerShdw sx="100000" sy="100000" kx="0" ky="0" algn="bl" rotWithShape="0" blurRad="101600" dist="38100" dir="8100000">
              <a:srgbClr val="0E2A3B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172200" y="2011680"/>
            <a:ext cx="109728" cy="1600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221284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3B"/>
                </a:solidFill>
              </a:rPr>
              <a:t>Restaurantes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92240" y="2724912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323F"/>
                </a:solidFill>
              </a:rPr>
              <a:t>Horas extra automáticas, liquidaciones rápidas y colillas digitales.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886200"/>
            <a:ext cx="5349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6E6"/>
            </a:solidFill>
            <a:prstDash val="solid"/>
          </a:ln>
          <a:effectLst>
            <a:outerShdw sx="100000" sy="100000" kx="0" ky="0" algn="bl" rotWithShape="0" blurRad="101600" dist="38100" dir="8100000">
              <a:srgbClr val="0E2A3B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886200"/>
            <a:ext cx="109728" cy="1600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08736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3B"/>
                </a:solidFill>
              </a:rPr>
              <a:t>Servicios / PyME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68680" y="4599432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323F"/>
                </a:solidFill>
              </a:rPr>
              <a:t>Vacaciones y solicitudes ordenadas; aguinaldo sin Excel.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172200" y="3886200"/>
            <a:ext cx="53492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6E6"/>
            </a:solidFill>
            <a:prstDash val="solid"/>
          </a:ln>
          <a:effectLst>
            <a:outerShdw sx="100000" sy="100000" kx="0" ky="0" algn="bl" rotWithShape="0" blurRad="101600" dist="38100" dir="8100000">
              <a:srgbClr val="0E2A3B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3886200"/>
            <a:ext cx="109728" cy="1600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408736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A3B"/>
                </a:solidFill>
              </a:rPr>
              <a:t>Empresas medianas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92240" y="4599432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323F"/>
                </a:solidFill>
              </a:rPr>
              <a:t>Nómina completa, costo de planilla y cumplimiento CCSS/Hacienda.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</a:rPr>
              <a:t>Centralia Personas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</a:rPr>
              <a:t>EJECUCIÓN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Tres olas — cada una entrega valor y financia la siguiente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14400" y="2788920"/>
            <a:ext cx="10332720" cy="0"/>
          </a:xfrm>
          <a:prstGeom prst="line">
            <a:avLst/>
          </a:prstGeom>
          <a:noFill/>
          <a:ln w="25400">
            <a:solidFill>
              <a:srgbClr val="C5DADA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2057400" y="2468880"/>
            <a:ext cx="640080" cy="640080"/>
          </a:xfrm>
          <a:prstGeom prst="ellipse">
            <a:avLst/>
          </a:prstGeom>
          <a:solidFill>
            <a:srgbClr val="028090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05740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40080" y="3383280"/>
            <a:ext cx="34747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6E6"/>
            </a:solidFill>
            <a:prstDash val="solid"/>
          </a:ln>
          <a:effectLst>
            <a:outerShdw sx="100000" sy="100000" kx="0" ky="0" algn="bl" rotWithShape="0" blurRad="101600" dist="38100" dir="8100000">
              <a:srgbClr val="0E2A3B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36118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</a:rPr>
              <a:t>OLA 1 · MVP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9776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A3B"/>
                </a:solidFill>
              </a:rPr>
              <a:t>Gestión de personal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466344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323F"/>
                </a:solidFill>
              </a:rPr>
              <a:t>Expediente, vacaciones proporcionales, solicitudes, ausencias y alertas — sobre Marcaje.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806440" y="2468880"/>
            <a:ext cx="640080" cy="640080"/>
          </a:xfrm>
          <a:prstGeom prst="ellipse">
            <a:avLst/>
          </a:prstGeom>
          <a:solidFill>
            <a:srgbClr val="00A896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0644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389120" y="3383280"/>
            <a:ext cx="34747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6E6"/>
            </a:solidFill>
            <a:prstDash val="solid"/>
          </a:ln>
          <a:effectLst>
            <a:outerShdw sx="100000" sy="100000" kx="0" ky="0" algn="bl" rotWithShape="0" blurRad="101600" dist="38100" dir="8100000">
              <a:srgbClr val="0E2A3B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63440" y="36118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A896"/>
                </a:solidFill>
              </a:rPr>
              <a:t>OLA 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63440" y="39776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A3B"/>
                </a:solidFill>
              </a:rPr>
              <a:t>Nómina Costa Rica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63440" y="466344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323F"/>
                </a:solidFill>
              </a:rPr>
              <a:t>Planilla CCSS, aguinaldo, horas extra, colillas, archivo SICERE/banco y liquidaciones.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9555480" y="2468880"/>
            <a:ext cx="640080" cy="640080"/>
          </a:xfrm>
          <a:prstGeom prst="ellipse">
            <a:avLst/>
          </a:prstGeom>
          <a:solidFill>
            <a:srgbClr val="02C39A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5548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8138160" y="3383280"/>
            <a:ext cx="34747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6E6"/>
            </a:solidFill>
            <a:prstDash val="solid"/>
          </a:ln>
          <a:effectLst>
            <a:outerShdw sx="100000" sy="100000" kx="0" ky="0" algn="bl" rotWithShape="0" blurRad="101600" dist="38100" dir="8100000">
              <a:srgbClr val="0E2A3B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412480" y="36118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C39A"/>
                </a:solidFill>
              </a:rPr>
              <a:t>OLA 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412480" y="39776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A3B"/>
                </a:solidFill>
              </a:rPr>
              <a:t>Autoservicio + analítica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412480" y="4663440"/>
            <a:ext cx="2971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323F"/>
                </a:solidFill>
              </a:rPr>
              <a:t>Autoservicio por WhatsApp, reportes de rotación/ausentismo y módulos opcionales.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3"/>
                </a:solidFill>
              </a:rPr>
              <a:t>Priorización: lanzar la Ola 1 como upsell de bajo costo a la base de Marcaje; invertir en la Ola 2 (nómina) tras validar tracción.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</a:rPr>
              <a:t>Centralia Personas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28090"/>
                </a:solidFill>
              </a:rPr>
              <a:t>MODELO DE NEGOCIO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A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SaaS por empleado/mes, con la nómina como motor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4747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6E6"/>
            </a:solidFill>
            <a:prstDash val="solid"/>
          </a:ln>
          <a:effectLst>
            <a:outerShdw sx="100000" sy="100000" kx="0" ky="0" algn="bl" rotWithShape="0" blurRad="101600" dist="38100" dir="8100000">
              <a:srgbClr val="0E2A3B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22402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2A3B"/>
                </a:solidFill>
              </a:rPr>
              <a:t>Personas Base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323F"/>
                </a:solidFill>
              </a:rPr>
              <a:t>Gestión de personal: expediente, vacaciones, solicitudes, ausencias.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4572000"/>
            <a:ext cx="2926080" cy="0"/>
          </a:xfrm>
          <a:prstGeom prst="line">
            <a:avLst/>
          </a:prstGeom>
          <a:noFill/>
          <a:ln w="12700">
            <a:solidFill>
              <a:srgbClr val="E0EC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70916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28090"/>
                </a:solidFill>
              </a:rPr>
              <a:t>Entrada baja · upsell a clientes de Marcaje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25112" y="1965960"/>
            <a:ext cx="3474720" cy="3566160"/>
          </a:xfrm>
          <a:prstGeom prst="rect">
            <a:avLst/>
          </a:prstGeom>
          <a:solidFill>
            <a:srgbClr val="0E2A3B"/>
          </a:solidFill>
          <a:ln w="12700">
            <a:solidFill>
              <a:srgbClr val="0E2A3B"/>
            </a:solidFill>
            <a:prstDash val="solid"/>
          </a:ln>
          <a:effectLst>
            <a:outerShdw sx="100000" sy="100000" kx="0" ky="0" algn="bl" rotWithShape="0" blurRad="101600" dist="38100" dir="8100000">
              <a:srgbClr val="0E2A3B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99432" y="22402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Personas Nómina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599432" y="27432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2C39A"/>
                </a:solidFill>
              </a:rPr>
              <a:t>RECOMENDADO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99432" y="306324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</a:rPr>
              <a:t>Todo lo de Base + planilla CCSS, aguinaldo, colillas y liquidaciones.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99432" y="4572000"/>
            <a:ext cx="2926080" cy="0"/>
          </a:xfrm>
          <a:prstGeom prst="line">
            <a:avLst/>
          </a:prstGeom>
          <a:noFill/>
          <a:ln w="12700">
            <a:solidFill>
              <a:srgbClr val="3353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99432" y="470916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2C39A"/>
                </a:solidFill>
              </a:rPr>
              <a:t>Precio más alto · el corazón del ingreso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01584" y="1965960"/>
            <a:ext cx="34747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6E6"/>
            </a:solidFill>
            <a:prstDash val="solid"/>
          </a:ln>
          <a:effectLst>
            <a:outerShdw sx="100000" sy="100000" kx="0" ky="0" algn="bl" rotWithShape="0" blurRad="101600" dist="38100" dir="8100000">
              <a:srgbClr val="0E2A3B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375904" y="22402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2A3B"/>
                </a:solidFill>
              </a:rPr>
              <a:t>Add-ons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375904" y="283464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4323F"/>
                </a:solidFill>
              </a:rPr>
              <a:t>Autoservicio WhatsApp, analítica, reclutamiento.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375904" y="4572000"/>
            <a:ext cx="2926080" cy="0"/>
          </a:xfrm>
          <a:prstGeom prst="line">
            <a:avLst/>
          </a:prstGeom>
          <a:noFill/>
          <a:ln w="12700">
            <a:solidFill>
              <a:srgbClr val="E0EC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75904" y="470916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28090"/>
                </a:solidFill>
              </a:rPr>
              <a:t>Aumentan el ticket promedio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5806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3"/>
                </a:solidFill>
              </a:rPr>
              <a:t>Palancas: descuento por suite (Marcaje + POS + Personas) y precio escalonado por número de empleados.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B73"/>
                </a:solidFill>
              </a:rPr>
              <a:t>Centralia Personas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43000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73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2A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3200400"/>
            <a:ext cx="5486400" cy="5486400"/>
          </a:xfrm>
          <a:prstGeom prst="ellipse">
            <a:avLst/>
          </a:prstGeom>
          <a:solidFill>
            <a:srgbClr val="028090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</a:rPr>
              <a:t>PRÓXIMOS PASOS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la idea al piloto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28600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2258568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Validar el dolor y la disposición a pagar con 5–10 clientes de Marcaje.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3035808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03580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5880" y="3008376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Confirmar parámetros legales con un asesor laboral costarricense.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" y="3785616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78561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25880" y="3758184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Definir el alcance y el precio de entrada del MVP (Ola 1).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0080" y="4535424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453542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25880" y="4507992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Construir el MVP sobre Marcaje y pilotear con un grupo cerrado.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0080" y="5285232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528523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25880" y="52578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Medir adopción antes de invertir en la Ola 2 (nómina).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58368" y="62636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FB9C4"/>
                </a:solidFill>
              </a:rPr>
              <a:t>Centralia Personas — RRHH y Nómina sobre Marcaje.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Centralia Personas - Propuesta</dc:title>
  <dc:subject>PptxGenJS Presentation</dc:subject>
  <dc:creator>Centralia</dc:creator>
  <cp:lastModifiedBy>Centralia</cp:lastModifiedBy>
  <cp:revision>1</cp:revision>
  <dcterms:created xsi:type="dcterms:W3CDTF">2026-06-19T22:45:56Z</dcterms:created>
  <dcterms:modified xsi:type="dcterms:W3CDTF">2026-06-19T22:45:56Z</dcterms:modified>
</cp:coreProperties>
</file>